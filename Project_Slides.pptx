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881" r:id="rId1"/>
  </p:sldMasterIdLst>
  <p:notesMasterIdLst>
    <p:notesMasterId r:id="rId20"/>
  </p:notesMasterIdLst>
  <p:handoutMasterIdLst>
    <p:handoutMasterId r:id="rId21"/>
  </p:handoutMasterIdLst>
  <p:sldIdLst>
    <p:sldId id="259" r:id="rId2"/>
    <p:sldId id="257" r:id="rId3"/>
    <p:sldId id="264" r:id="rId4"/>
    <p:sldId id="260" r:id="rId5"/>
    <p:sldId id="261" r:id="rId6"/>
    <p:sldId id="262" r:id="rId7"/>
    <p:sldId id="263" r:id="rId8"/>
    <p:sldId id="267" r:id="rId9"/>
    <p:sldId id="280" r:id="rId10"/>
    <p:sldId id="270" r:id="rId11"/>
    <p:sldId id="274" r:id="rId12"/>
    <p:sldId id="273" r:id="rId13"/>
    <p:sldId id="279" r:id="rId14"/>
    <p:sldId id="277" r:id="rId15"/>
    <p:sldId id="276" r:id="rId16"/>
    <p:sldId id="278" r:id="rId17"/>
    <p:sldId id="269" r:id="rId18"/>
    <p:sldId id="272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4"/>
    <p:restoredTop sz="86144" autoAdjust="0"/>
  </p:normalViewPr>
  <p:slideViewPr>
    <p:cSldViewPr snapToObjects="1">
      <p:cViewPr varScale="1">
        <p:scale>
          <a:sx n="94" d="100"/>
          <a:sy n="94" d="100"/>
        </p:scale>
        <p:origin x="1138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2" charset="0"/>
                <a:ea typeface="Geneva" pitchFamily="37" charset="-128"/>
                <a:cs typeface="Geneva" pitchFamily="37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pPr>
              <a:defRPr/>
            </a:pPr>
            <a:fld id="{A5CB7454-15C1-A944-AC37-5542B6D3ECE9}" type="datetime1">
              <a:rPr lang="en-US"/>
              <a:pPr>
                <a:defRPr/>
              </a:pPr>
              <a:t>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2" charset="0"/>
                <a:ea typeface="Geneva" pitchFamily="37" charset="-128"/>
                <a:cs typeface="Geneva" pitchFamily="37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pPr>
              <a:defRPr/>
            </a:pPr>
            <a:fld id="{6CAD9EFA-3E97-9B4D-8EE7-720657CEF6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8779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2" charset="0"/>
                <a:ea typeface="Geneva" pitchFamily="37" charset="-128"/>
                <a:cs typeface="Geneva" pitchFamily="37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pPr>
              <a:defRPr/>
            </a:pPr>
            <a:fld id="{1210EC45-414C-6A4E-BBBD-A09AEA33A371}" type="datetime1">
              <a:rPr lang="en-US"/>
              <a:pPr>
                <a:defRPr/>
              </a:pPr>
              <a:t>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2" charset="0"/>
                <a:ea typeface="Geneva" pitchFamily="37" charset="-128"/>
                <a:cs typeface="Geneva" pitchFamily="37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pPr>
              <a:defRPr/>
            </a:pPr>
            <a:fld id="{CFE6EDC6-DD80-2D48-A9E8-763FB51E6E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0406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pitchFamily="-65" charset="-128"/>
        <a:cs typeface="Geneva" pitchFamily="-65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pitchFamily="-65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charset="-128"/>
        <a:cs typeface="ヒラギノ角ゴ Pro W3" charset="0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charset="-128"/>
        <a:cs typeface="ヒラギノ角ゴ Pro W3" charset="0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charset="-128"/>
        <a:cs typeface="ヒラギノ角ゴ Pro W3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Creates the final heatmap: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Combines weighted feature maps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Records how the last conv layer's output affects the final prediction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Normalizes values between 0 and 255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Returns a heatmap showing which parts of the image influenced the classification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FE6EDC6-DD80-2D48-A9E8-763FB51E6E0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773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TM_SQDIFF (Squared Difference) method calculates the sum of squared differences between the template (in your case, the kernel extracted from high-activation regions) and the input image.</a:t>
            </a:r>
          </a:p>
          <a:p>
            <a:endParaRPr lang="en-US" dirty="0"/>
          </a:p>
          <a:p>
            <a:r>
              <a:rPr lang="en-US" dirty="0"/>
              <a:t>A threshold was calculated based on the minimum and maximum values:</a:t>
            </a:r>
          </a:p>
          <a:p>
            <a:pPr algn="l" rtl="0" latinLnBrk="0"/>
            <a:r>
              <a:rPr lang="en-US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	threshold </a:t>
            </a:r>
            <a:r>
              <a:rPr lang="en-US" dirty="0">
                <a:solidFill>
                  <a:srgbClr val="61AFEF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dirty="0" err="1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min_val</a:t>
            </a:r>
            <a:r>
              <a:rPr lang="en-US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dirty="0">
                <a:solidFill>
                  <a:srgbClr val="61AFEF"/>
                </a:solidFill>
                <a:effectLst/>
                <a:latin typeface="Fira Code" panose="020B0809050000020004" pitchFamily="49" charset="0"/>
              </a:rPr>
              <a:t>+</a:t>
            </a:r>
            <a:r>
              <a:rPr lang="en-US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 (</a:t>
            </a:r>
            <a:r>
              <a:rPr lang="en-US" dirty="0" err="1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max_val</a:t>
            </a:r>
            <a:r>
              <a:rPr lang="en-US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dirty="0">
                <a:solidFill>
                  <a:srgbClr val="61AFEF"/>
                </a:solidFill>
                <a:effectLst/>
                <a:latin typeface="Fira Code" panose="020B0809050000020004" pitchFamily="49" charset="0"/>
              </a:rPr>
              <a:t>-</a:t>
            </a:r>
            <a:r>
              <a:rPr lang="en-US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dirty="0" err="1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min_val</a:t>
            </a:r>
            <a:r>
              <a:rPr lang="en-US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) </a:t>
            </a:r>
            <a:r>
              <a:rPr lang="en-US" dirty="0">
                <a:solidFill>
                  <a:srgbClr val="61AFEF"/>
                </a:solidFill>
                <a:effectLst/>
                <a:latin typeface="Fira Code" panose="020B0809050000020004" pitchFamily="49" charset="0"/>
              </a:rPr>
              <a:t>*</a:t>
            </a:r>
            <a:r>
              <a:rPr lang="en-US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dirty="0">
                <a:solidFill>
                  <a:srgbClr val="D19A66"/>
                </a:solidFill>
                <a:effectLst/>
                <a:latin typeface="Fira Code" panose="020B0809050000020004" pitchFamily="49" charset="0"/>
              </a:rPr>
              <a:t>0.08</a:t>
            </a:r>
            <a:r>
              <a:rPr lang="en-US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i="1" dirty="0">
                <a:solidFill>
                  <a:srgbClr val="5C6370"/>
                </a:solidFill>
                <a:effectLst/>
                <a:latin typeface="Fira Code" panose="020B0809050000020004" pitchFamily="49" charset="0"/>
              </a:rPr>
              <a:t># Used 8% threshold</a:t>
            </a:r>
            <a:endParaRPr lang="en-US" dirty="0">
              <a:solidFill>
                <a:srgbClr val="ABB2BF"/>
              </a:solidFill>
              <a:effectLst/>
              <a:latin typeface="Fira Code" panose="020B0809050000020004" pitchFamily="49" charset="0"/>
            </a:endParaRPr>
          </a:p>
          <a:p>
            <a:pPr>
              <a:buFont typeface="+mj-lt"/>
              <a:buNone/>
            </a:pPr>
            <a:endParaRPr lang="en-US" dirty="0"/>
          </a:p>
          <a:p>
            <a:pPr>
              <a:buFont typeface="+mj-lt"/>
              <a:buNone/>
            </a:pPr>
            <a:r>
              <a:rPr lang="en-US" dirty="0"/>
              <a:t>Multiple matches were found using this threshold:</a:t>
            </a:r>
          </a:p>
          <a:p>
            <a:pPr algn="l" rtl="0" latinLnBrk="0"/>
            <a:r>
              <a:rPr lang="en-US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	locations </a:t>
            </a:r>
            <a:r>
              <a:rPr lang="en-US" dirty="0">
                <a:solidFill>
                  <a:srgbClr val="61AFEF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dirty="0" err="1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np.where</a:t>
            </a:r>
            <a:r>
              <a:rPr lang="en-US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(result </a:t>
            </a:r>
            <a:r>
              <a:rPr lang="en-US" dirty="0">
                <a:solidFill>
                  <a:srgbClr val="61AFEF"/>
                </a:solidFill>
                <a:effectLst/>
                <a:latin typeface="Fira Code" panose="020B0809050000020004" pitchFamily="49" charset="0"/>
              </a:rPr>
              <a:t>&lt;=</a:t>
            </a:r>
            <a:r>
              <a:rPr lang="en-US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 threshold)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FE6EDC6-DD80-2D48-A9E8-763FB51E6E0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957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483897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ED70C6-FDCB-5747-9A21-CEFC4DDC4D7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172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643EE7-E1E3-6A41-AED4-ADD0882BF97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47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8EF95E-660F-6F48-9B3C-B3F93E20ACE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482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47837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8F1A38-2662-714D-BA55-F0640804B74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5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524B65-BD56-BC42-A8D4-F7B262BC0E7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225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045864-67DE-844A-AC03-EBD93572A56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723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742D8B-8594-4B44-80B0-BECC0F075DC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875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41650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5569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7800" y="2828380"/>
            <a:ext cx="5459737" cy="25663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10281462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47999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587427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308676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F69E68-A1F7-A441-8DC9-1255D615ACC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7064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D8FFC6-973B-2442-BCAF-B040FDE7B89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388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95F1C-3447-014F-A03E-65CA47372F2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85800" y="742950"/>
            <a:ext cx="7772400" cy="1066800"/>
          </a:xfrm>
        </p:spPr>
        <p:txBody>
          <a:bodyPr anchor="ctr"/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E5FC10-9685-A346-8AD2-79119408731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371600" y="2419350"/>
            <a:ext cx="6400800" cy="1219200"/>
          </a:xfrm>
        </p:spPr>
        <p:txBody>
          <a:bodyPr/>
          <a:lstStyle>
            <a:lvl1pPr marL="0" indent="0" algn="ctr">
              <a:buNone/>
              <a:defRPr>
                <a:solidFill>
                  <a:srgbClr val="00B0F0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31401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1680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  <p:sldLayoutId id="2147483892" r:id="rId11"/>
    <p:sldLayoutId id="2147483893" r:id="rId12"/>
    <p:sldLayoutId id="2147483894" r:id="rId13"/>
    <p:sldLayoutId id="2147483895" r:id="rId14"/>
    <p:sldLayoutId id="2147483896" r:id="rId15"/>
    <p:sldLayoutId id="2147483897" r:id="rId16"/>
    <p:sldLayoutId id="2147483898" r:id="rId17"/>
    <p:sldLayoutId id="2147483899" r:id="rId18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7950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93B461-7169-5047-801F-ADD6162A024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70932" y="1200150"/>
            <a:ext cx="7772400" cy="1371600"/>
          </a:xfrm>
        </p:spPr>
        <p:txBody>
          <a:bodyPr/>
          <a:lstStyle/>
          <a:p>
            <a:r>
              <a:rPr lang="en-US" sz="3600" b="1" dirty="0"/>
              <a:t>Zero Annotation Object Detection</a:t>
            </a:r>
          </a:p>
          <a:p>
            <a:r>
              <a:rPr lang="en-US" sz="3600" b="1" dirty="0"/>
              <a:t>Implementation on Fruits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FF2BC-130E-454E-9865-6F360383A17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56732" y="3032203"/>
            <a:ext cx="6400800" cy="457200"/>
          </a:xfrm>
        </p:spPr>
        <p:txBody>
          <a:bodyPr/>
          <a:lstStyle/>
          <a:p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Built and presented By Pratyush </a:t>
            </a:r>
            <a:r>
              <a:rPr lang="en-US" b="1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Nakka</a:t>
            </a:r>
            <a:endParaRPr lang="en-US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4157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466ED-4D45-E44D-B8B1-9C2A3101F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A3627-267D-004F-94BF-63E6F1C2B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Traditional Object Detection Models need Annotations while training.</a:t>
            </a:r>
          </a:p>
          <a:p>
            <a:r>
              <a:rPr lang="en-US" dirty="0"/>
              <a:t>It poses a challenge to train the model with an unannotated dataset (like new bacterial or virus samples or any unorthodox dataset)</a:t>
            </a:r>
          </a:p>
          <a:p>
            <a:r>
              <a:rPr lang="en-US" dirty="0"/>
              <a:t>Need for a system that can: Accurately classify different types of objects, Identify the features of the object, and draw the bounding boxes around the object.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E2337-1E4F-774E-919D-D374915A7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ED70C6-FDCB-5747-9A21-CEFC4DDC4D7F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941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3FA2E-2A6C-8F4F-1513-74C7D7956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85950"/>
            <a:ext cx="8229600" cy="742950"/>
          </a:xfrm>
        </p:spPr>
        <p:txBody>
          <a:bodyPr/>
          <a:lstStyle/>
          <a:p>
            <a:r>
              <a:rPr lang="en-US" b="1" dirty="0"/>
              <a:t>Solution Analysis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C80308-0346-866D-6F69-E21DFD8FB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8F1A38-2662-714D-BA55-F0640804B748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107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A4128-6296-0840-4A85-D1C9FDF92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74465-DB87-37EB-0A73-8190BD78D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Utilizes MobileNetV2 as the base CNN architecture </a:t>
            </a:r>
          </a:p>
          <a:p>
            <a:r>
              <a:rPr lang="en-US" dirty="0"/>
              <a:t>Implementation of Grad-CAM for feature visualization </a:t>
            </a:r>
          </a:p>
          <a:p>
            <a:r>
              <a:rPr lang="en-US" dirty="0"/>
              <a:t>Template matching for feature detection and localization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571F6F-DA09-FC1A-1853-0EB429FC4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ED70C6-FDCB-5747-9A21-CEFC4DDC4D7F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192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A9F34-9937-CB61-EF8D-1B627FCC1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02010-3F16-C080-E36C-CC7A315B6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19251"/>
            <a:ext cx="8229600" cy="1333500"/>
          </a:xfrm>
        </p:spPr>
        <p:txBody>
          <a:bodyPr/>
          <a:lstStyle/>
          <a:p>
            <a:r>
              <a:rPr lang="en-US" dirty="0"/>
              <a:t>Deep Learning Classification Model </a:t>
            </a:r>
          </a:p>
          <a:p>
            <a:pPr lvl="1"/>
            <a:r>
              <a:rPr lang="en-US" dirty="0"/>
              <a:t>Pre-trained MobileNetV2 architecture </a:t>
            </a:r>
          </a:p>
          <a:p>
            <a:pPr lvl="1"/>
            <a:r>
              <a:rPr lang="en-US" dirty="0"/>
              <a:t>9 fruit classes including apple, Mango, Orange, etc. </a:t>
            </a:r>
          </a:p>
          <a:p>
            <a:pPr lvl="1"/>
            <a:r>
              <a:rPr lang="en-US" dirty="0"/>
              <a:t>Input image size: 224x224 pixels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E0C23-1163-93B9-0A8A-8CF860885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ED70C6-FDCB-5747-9A21-CEFC4DDC4D7F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991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70466-40D5-DB34-61D0-91D560DDB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A87C0-F5FE-3880-9192-6A188351D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09111-69D0-53BF-AC60-8EFAA110D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04950"/>
            <a:ext cx="8229600" cy="1333500"/>
          </a:xfrm>
        </p:spPr>
        <p:txBody>
          <a:bodyPr/>
          <a:lstStyle/>
          <a:p>
            <a:r>
              <a:rPr lang="en-US" dirty="0"/>
              <a:t>Feature Visualization</a:t>
            </a:r>
          </a:p>
          <a:p>
            <a:pPr lvl="1"/>
            <a:r>
              <a:rPr lang="en-US" b="1" dirty="0">
                <a:highlight>
                  <a:srgbClr val="FFFF00"/>
                </a:highlight>
              </a:rPr>
              <a:t>Grad-CAM</a:t>
            </a:r>
            <a:r>
              <a:rPr lang="en-US" dirty="0"/>
              <a:t> implementation for heatmap generation </a:t>
            </a:r>
          </a:p>
          <a:p>
            <a:pPr lvl="1"/>
            <a:r>
              <a:rPr lang="en-US" dirty="0"/>
              <a:t>Convolutional layer analysis</a:t>
            </a:r>
          </a:p>
          <a:p>
            <a:pPr lvl="1"/>
            <a:r>
              <a:rPr lang="en-US" dirty="0"/>
              <a:t>Heatmap generation for model interpretability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E6713-5B61-4617-C846-C935F7ECF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ED70C6-FDCB-5747-9A21-CEFC4DDC4D7F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703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91F89-3B0F-C280-0802-151B910FC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CFA74-B08D-1EB1-3898-E851E245E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690DA-2668-B3D4-63BC-2A5BDA960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7613"/>
            <a:ext cx="8229600" cy="1333500"/>
          </a:xfrm>
        </p:spPr>
        <p:txBody>
          <a:bodyPr/>
          <a:lstStyle/>
          <a:p>
            <a:r>
              <a:rPr lang="en-US" dirty="0"/>
              <a:t>Feature Detection System </a:t>
            </a:r>
          </a:p>
          <a:p>
            <a:pPr lvl="1"/>
            <a:r>
              <a:rPr lang="en-US" dirty="0"/>
              <a:t>Kernel extraction from high-activation regions </a:t>
            </a:r>
          </a:p>
          <a:p>
            <a:pPr lvl="1"/>
            <a:r>
              <a:rPr lang="en-US" dirty="0"/>
              <a:t>Template matching using </a:t>
            </a:r>
            <a:r>
              <a:rPr lang="en-US" b="1" dirty="0">
                <a:solidFill>
                  <a:schemeClr val="tx2"/>
                </a:solidFill>
                <a:highlight>
                  <a:srgbClr val="800080"/>
                </a:highlight>
              </a:rPr>
              <a:t>cv2.TM_SQDIFF </a:t>
            </a:r>
          </a:p>
          <a:p>
            <a:pPr lvl="1"/>
            <a:r>
              <a:rPr lang="en-US" dirty="0"/>
              <a:t>Adaptive thresholding for feature matching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16CC1-1854-F519-A28B-68689F7F8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ED70C6-FDCB-5747-9A21-CEFC4DDC4D7F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EC0367-ECD6-884A-1AD9-B38BAFB30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406" y="2768532"/>
            <a:ext cx="5159187" cy="1562235"/>
          </a:xfrm>
          <a:prstGeom prst="rect">
            <a:avLst/>
          </a:prstGeom>
        </p:spPr>
      </p:pic>
      <p:sp>
        <p:nvSpPr>
          <p:cNvPr id="11" name="Arrow: Bent 10">
            <a:extLst>
              <a:ext uri="{FF2B5EF4-FFF2-40B4-BE49-F238E27FC236}">
                <a16:creationId xmlns:a16="http://schemas.microsoft.com/office/drawing/2014/main" id="{E9C2A697-653D-A928-80C0-30476BF99362}"/>
              </a:ext>
            </a:extLst>
          </p:cNvPr>
          <p:cNvSpPr/>
          <p:nvPr/>
        </p:nvSpPr>
        <p:spPr>
          <a:xfrm rot="5400000">
            <a:off x="5017658" y="1460798"/>
            <a:ext cx="862074" cy="1753393"/>
          </a:xfrm>
          <a:prstGeom prst="ben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73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8C16B-B384-7876-B38D-34E9A2D57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6" y="2114550"/>
            <a:ext cx="8229600" cy="742950"/>
          </a:xfrm>
        </p:spPr>
        <p:txBody>
          <a:bodyPr/>
          <a:lstStyle/>
          <a:p>
            <a:r>
              <a:rPr lang="en-US" b="1" dirty="0"/>
              <a:t>Experimental Results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33638C-F0EF-FF68-A09E-B20D7342A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8F1A38-2662-714D-BA55-F0640804B748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580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154437-8CFC-137C-2927-878DB7FD3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524B65-BD56-BC42-A8D4-F7B262BC0E7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A0459BC0-69F4-F86E-F612-16030FDF4CC1}"/>
              </a:ext>
            </a:extLst>
          </p:cNvPr>
          <p:cNvSpPr txBox="1">
            <a:spLocks/>
          </p:cNvSpPr>
          <p:nvPr/>
        </p:nvSpPr>
        <p:spPr>
          <a:xfrm>
            <a:off x="457200" y="361950"/>
            <a:ext cx="4800600" cy="773906"/>
          </a:xfrm>
          <a:prstGeom prst="rect">
            <a:avLst/>
          </a:prstGeom>
        </p:spPr>
        <p:txBody>
          <a:bodyPr>
            <a:norm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87950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latin typeface="+mn-lt"/>
              </a:rPr>
              <a:t>Classification Performance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2A9090-691C-CE1B-4AE0-2453746E6B6D}"/>
              </a:ext>
            </a:extLst>
          </p:cNvPr>
          <p:cNvSpPr txBox="1">
            <a:spLocks/>
          </p:cNvSpPr>
          <p:nvPr/>
        </p:nvSpPr>
        <p:spPr>
          <a:xfrm>
            <a:off x="399151" y="962465"/>
            <a:ext cx="8229601" cy="773906"/>
          </a:xfrm>
          <a:prstGeom prst="rect">
            <a:avLst/>
          </a:prstGeom>
        </p:spPr>
        <p:txBody>
          <a:bodyPr/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87950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sz="1800" dirty="0">
                <a:latin typeface="+mn-lt"/>
              </a:rPr>
              <a:t>Model successfully identifies fruit types from input images</a:t>
            </a:r>
          </a:p>
          <a:p>
            <a:r>
              <a:rPr lang="en-US" sz="1800" dirty="0">
                <a:latin typeface="+mn-lt"/>
              </a:rPr>
              <a:t>Demonstrates robust feature extraction capabilities 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5B36F6AA-AFFE-53DA-A304-79777B6E7BFA}"/>
              </a:ext>
            </a:extLst>
          </p:cNvPr>
          <p:cNvSpPr txBox="1">
            <a:spLocks/>
          </p:cNvSpPr>
          <p:nvPr/>
        </p:nvSpPr>
        <p:spPr bwMode="auto">
          <a:xfrm>
            <a:off x="473764" y="1582649"/>
            <a:ext cx="4040188" cy="773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indent="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b="1" kern="1200">
                <a:solidFill>
                  <a:srgbClr val="006096"/>
                </a:solidFill>
                <a:latin typeface="Calibri"/>
                <a:ea typeface="Geneva" pitchFamily="-65" charset="-128"/>
                <a:cs typeface="Calibri"/>
              </a:defRPr>
            </a:lvl1pPr>
            <a:lvl2pPr marL="457200" indent="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b="1" kern="1200">
                <a:solidFill>
                  <a:schemeClr val="bg1"/>
                </a:solidFill>
                <a:latin typeface="Calibri"/>
                <a:ea typeface="Geneva" pitchFamily="-65" charset="-128"/>
                <a:cs typeface="Calibri"/>
              </a:defRPr>
            </a:lvl2pPr>
            <a:lvl3pPr marL="914400" indent="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800" b="1" kern="1200">
                <a:solidFill>
                  <a:schemeClr val="bg1"/>
                </a:solidFill>
                <a:latin typeface="Calibri"/>
                <a:ea typeface="ヒラギノ角ゴ Pro W3" charset="-128"/>
                <a:cs typeface="Calibri"/>
              </a:defRPr>
            </a:lvl3pPr>
            <a:lvl4pPr marL="1371600" indent="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600" b="1" kern="1200">
                <a:solidFill>
                  <a:schemeClr val="bg1"/>
                </a:solidFill>
                <a:latin typeface="Calibri"/>
                <a:ea typeface="ヒラギノ角ゴ Pro W3" charset="-128"/>
                <a:cs typeface="Calibri"/>
              </a:defRPr>
            </a:lvl4pPr>
            <a:lvl5pPr marL="1828800" indent="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600" b="1" kern="1200">
                <a:solidFill>
                  <a:schemeClr val="bg1"/>
                </a:solidFill>
                <a:latin typeface="Calibri"/>
                <a:ea typeface="ヒラギノ角ゴ Pro W3" charset="-128"/>
                <a:cs typeface="Calibri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+mn-lt"/>
              </a:rPr>
              <a:t>Visualization Analysis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02BCA54-41E8-4FB8-6325-34B0E93D61A4}"/>
              </a:ext>
            </a:extLst>
          </p:cNvPr>
          <p:cNvSpPr txBox="1">
            <a:spLocks/>
          </p:cNvSpPr>
          <p:nvPr/>
        </p:nvSpPr>
        <p:spPr bwMode="auto">
          <a:xfrm>
            <a:off x="473764" y="2495550"/>
            <a:ext cx="8229601" cy="197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rgbClr val="006096"/>
                </a:solidFill>
                <a:latin typeface="Calibri"/>
                <a:ea typeface="Geneva" pitchFamily="-65" charset="-128"/>
                <a:cs typeface="Calibri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rgbClr val="006096"/>
                </a:solidFill>
                <a:latin typeface="Calibri"/>
                <a:ea typeface="Geneva" pitchFamily="-65" charset="-128"/>
                <a:cs typeface="Calibri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rgbClr val="006096"/>
                </a:solidFill>
                <a:latin typeface="Calibri"/>
                <a:ea typeface="ヒラギノ角ゴ Pro W3" charset="-128"/>
                <a:cs typeface="Calibri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 kern="1200">
                <a:solidFill>
                  <a:srgbClr val="006096"/>
                </a:solidFill>
                <a:latin typeface="Calibri"/>
                <a:ea typeface="ヒラギノ角ゴ Pro W3" charset="-128"/>
                <a:cs typeface="Calibri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 kern="1200">
                <a:solidFill>
                  <a:srgbClr val="006096"/>
                </a:solidFill>
                <a:latin typeface="Calibri"/>
                <a:ea typeface="ヒラギノ角ゴ Pro W3" charset="-128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tx1"/>
                </a:solidFill>
                <a:latin typeface="+mn-lt"/>
              </a:rPr>
              <a:t>Model successfully identifies fruit types from input images</a:t>
            </a:r>
          </a:p>
          <a:p>
            <a:pPr lvl="1"/>
            <a:r>
              <a:rPr lang="en-US" sz="1400" dirty="0">
                <a:solidFill>
                  <a:schemeClr val="tx1"/>
                </a:solidFill>
                <a:latin typeface="+mn-lt"/>
              </a:rPr>
              <a:t>Shows regions of high importance for classification </a:t>
            </a:r>
          </a:p>
          <a:p>
            <a:pPr lvl="1"/>
            <a:r>
              <a:rPr lang="en-US" sz="1400" dirty="0">
                <a:solidFill>
                  <a:schemeClr val="tx1"/>
                </a:solidFill>
                <a:latin typeface="+mn-lt"/>
              </a:rPr>
              <a:t>Provides interpretable visualization of model focus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  <a:p>
            <a:r>
              <a:rPr lang="en-US" sz="1800" dirty="0">
                <a:solidFill>
                  <a:schemeClr val="tx1"/>
                </a:solidFill>
                <a:latin typeface="+mn-lt"/>
              </a:rPr>
              <a:t>Demonstrates robust feature extraction capabilities </a:t>
            </a:r>
          </a:p>
          <a:p>
            <a:pPr lvl="1"/>
            <a:r>
              <a:rPr lang="en-US" sz="1400" dirty="0">
                <a:solidFill>
                  <a:schemeClr val="tx1"/>
                </a:solidFill>
                <a:latin typeface="+mn-lt"/>
              </a:rPr>
              <a:t>Successfully extracts key features using Template-based approach </a:t>
            </a:r>
          </a:p>
          <a:p>
            <a:pPr lvl="1"/>
            <a:r>
              <a:rPr lang="en-US" sz="1400" dirty="0">
                <a:solidFill>
                  <a:schemeClr val="tx1"/>
                </a:solidFill>
                <a:latin typeface="+mn-lt"/>
              </a:rPr>
              <a:t>Implements bounding box visualization for detected features </a:t>
            </a:r>
          </a:p>
          <a:p>
            <a:pPr lvl="1"/>
            <a:r>
              <a:rPr lang="en-US" sz="1400" dirty="0">
                <a:solidFill>
                  <a:schemeClr val="tx1"/>
                </a:solidFill>
                <a:latin typeface="+mn-lt"/>
              </a:rPr>
              <a:t>Multiple feature matches consolidated into single bounding rectangle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99346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94589-7723-F0B1-3B8F-7E4E6A94C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52820"/>
            <a:ext cx="8229600" cy="742950"/>
          </a:xfrm>
        </p:spPr>
        <p:txBody>
          <a:bodyPr/>
          <a:lstStyle/>
          <a:p>
            <a:r>
              <a:rPr lang="en-US" b="1" dirty="0"/>
              <a:t>Conclusions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4E597A-5D15-1F35-96FD-98112581D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8F1A38-2662-714D-BA55-F0640804B748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725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B272CC-6987-DD92-A231-A5ACE748A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8F1A38-2662-714D-BA55-F0640804B748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3C2755-328C-0743-24FE-F4CC9B89F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8" y="0"/>
            <a:ext cx="2391910" cy="2470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2148AC-35AA-307B-1FD7-DBC389330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387" y="16119"/>
            <a:ext cx="2391911" cy="23976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4F780B-0F1D-F5C6-7133-5B1A372083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0635" y="0"/>
            <a:ext cx="2413365" cy="24701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46D760-26A2-A466-48BB-55FA15BD02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900" y="-14654"/>
            <a:ext cx="2241133" cy="23641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CD7CA34-9423-740B-DE01-B18F74CB63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0283" y="2693127"/>
            <a:ext cx="3557233" cy="24701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834F1A-3FDC-1F66-4669-03419389874D}"/>
              </a:ext>
            </a:extLst>
          </p:cNvPr>
          <p:cNvSpPr txBox="1"/>
          <p:nvPr/>
        </p:nvSpPr>
        <p:spPr>
          <a:xfrm>
            <a:off x="457200" y="2800350"/>
            <a:ext cx="220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Feature Kernel Extracted from ‘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block_13_expand_BN</a:t>
            </a:r>
            <a:r>
              <a:rPr lang="en-US" sz="1200" dirty="0"/>
              <a:t>’ </a:t>
            </a:r>
          </a:p>
        </p:txBody>
      </p:sp>
    </p:spTree>
    <p:extLst>
      <p:ext uri="{BB962C8B-B14F-4D97-AF65-F5344CB8AC3E}">
        <p14:creationId xmlns:p14="http://schemas.microsoft.com/office/powerpoint/2010/main" val="3420598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44D530-1883-A9FE-285F-DAB92079B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524B65-BD56-BC42-A8D4-F7B262BC0E77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1B482E-DC07-3DDF-C31A-CF20C5502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228350" cy="23012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B2229E-8183-AC38-2690-6FCA1862B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419" y="-3810"/>
            <a:ext cx="2299562" cy="23050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4E2946-597A-0591-CF46-CEAB44466A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800" y="0"/>
            <a:ext cx="2252060" cy="23050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0E8AAA6-3E2F-237A-218C-77867CF680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7772" y="2574737"/>
            <a:ext cx="3154418" cy="256876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CE97042-E615-8D4A-135D-25979D095B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3695" y="79502"/>
            <a:ext cx="1995487" cy="21050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D6E04-2E73-2634-E869-CB001BBACEFF}"/>
              </a:ext>
            </a:extLst>
          </p:cNvPr>
          <p:cNvSpPr txBox="1"/>
          <p:nvPr/>
        </p:nvSpPr>
        <p:spPr>
          <a:xfrm>
            <a:off x="457200" y="2800350"/>
            <a:ext cx="220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Feature Kernel Extracted from ‘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block_13_expand_BN</a:t>
            </a:r>
            <a:r>
              <a:rPr lang="en-US" sz="1200" dirty="0"/>
              <a:t>’ </a:t>
            </a:r>
          </a:p>
        </p:txBody>
      </p:sp>
    </p:spTree>
    <p:extLst>
      <p:ext uri="{BB962C8B-B14F-4D97-AF65-F5344CB8AC3E}">
        <p14:creationId xmlns:p14="http://schemas.microsoft.com/office/powerpoint/2010/main" val="1543233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ECD976-0D18-EA81-3CE0-2A3DD7920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524B65-BD56-BC42-A8D4-F7B262BC0E77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451A3546-0FBA-00BD-EFB3-36900A5C7860}"/>
              </a:ext>
            </a:extLst>
          </p:cNvPr>
          <p:cNvSpPr txBox="1">
            <a:spLocks/>
          </p:cNvSpPr>
          <p:nvPr/>
        </p:nvSpPr>
        <p:spPr>
          <a:xfrm>
            <a:off x="484413" y="797562"/>
            <a:ext cx="4040188" cy="773906"/>
          </a:xfrm>
          <a:prstGeom prst="rect">
            <a:avLst/>
          </a:prstGeom>
        </p:spPr>
        <p:txBody>
          <a:bodyPr/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87950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Key Achievements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912051A-B398-55EF-448F-138F5BDD556F}"/>
              </a:ext>
            </a:extLst>
          </p:cNvPr>
          <p:cNvSpPr txBox="1">
            <a:spLocks/>
          </p:cNvSpPr>
          <p:nvPr/>
        </p:nvSpPr>
        <p:spPr>
          <a:xfrm>
            <a:off x="457200" y="1352550"/>
            <a:ext cx="4040188" cy="1900859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87950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sz="1800"/>
              <a:t>Successfully implemented end-to-end fruit classification system </a:t>
            </a:r>
          </a:p>
          <a:p>
            <a:r>
              <a:rPr lang="en-US" sz="1800"/>
              <a:t>Added interpretability through Grad-CAM visualization </a:t>
            </a:r>
          </a:p>
          <a:p>
            <a:r>
              <a:rPr lang="en-US" sz="1800"/>
              <a:t>Developed feature detection and localization mechanism </a:t>
            </a:r>
            <a:endParaRPr lang="en-US" sz="1800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660F6C5-96DD-9247-BE06-682B989BD3B9}"/>
              </a:ext>
            </a:extLst>
          </p:cNvPr>
          <p:cNvSpPr txBox="1">
            <a:spLocks/>
          </p:cNvSpPr>
          <p:nvPr/>
        </p:nvSpPr>
        <p:spPr>
          <a:xfrm>
            <a:off x="4645026" y="797562"/>
            <a:ext cx="4041775" cy="773906"/>
          </a:xfrm>
          <a:prstGeom prst="rect">
            <a:avLst/>
          </a:prstGeom>
        </p:spPr>
        <p:txBody>
          <a:bodyPr/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87950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Technical Innovations 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3546DF81-25C3-9DAC-41D0-4D8EC4A82478}"/>
              </a:ext>
            </a:extLst>
          </p:cNvPr>
          <p:cNvSpPr txBox="1">
            <a:spLocks/>
          </p:cNvSpPr>
          <p:nvPr/>
        </p:nvSpPr>
        <p:spPr>
          <a:xfrm>
            <a:off x="4645025" y="1356691"/>
            <a:ext cx="4041775" cy="1900859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87950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sz="1800"/>
              <a:t>Integration of classification, visualization, and detection </a:t>
            </a:r>
          </a:p>
          <a:p>
            <a:r>
              <a:rPr lang="en-US" sz="1800"/>
              <a:t>Novel approach to kernel extraction from activation maps </a:t>
            </a:r>
          </a:p>
          <a:p>
            <a:r>
              <a:rPr lang="en-US" sz="1800"/>
              <a:t>Adaptive threshold-based feature matching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29413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C9A2A-1824-89C0-55DB-BD34FFEC3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5EFB6-4E9A-109D-AEBB-33EFD2F6F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43906"/>
            <a:ext cx="6858000" cy="6667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 eaLnBrk="1" hangingPunct="1">
              <a:lnSpc>
                <a:spcPct val="90000"/>
              </a:lnSpc>
            </a:pPr>
            <a:r>
              <a:rPr lang="en-US" sz="2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Challenges to be addressed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E2837-AA60-B6CD-71BB-6BDD8A79D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Aft>
                <a:spcPts val="600"/>
              </a:spcAft>
              <a:defRPr/>
            </a:pPr>
            <a:fld id="{67ED70C6-FDCB-5747-9A21-CEFC4DDC4D7F}" type="slidenum">
              <a:rPr lang="en-US"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algn="r" defTabSz="914400">
                <a:lnSpc>
                  <a:spcPct val="90000"/>
                </a:lnSpc>
                <a:spcAft>
                  <a:spcPts val="600"/>
                </a:spcAft>
                <a:defRPr/>
              </a:pPr>
              <a:t>13</a:t>
            </a:fld>
            <a:endParaRPr lang="en-US" sz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9D1944-B984-8619-A8D9-24FE4368B6F1}"/>
              </a:ext>
            </a:extLst>
          </p:cNvPr>
          <p:cNvSpPr txBox="1"/>
          <p:nvPr/>
        </p:nvSpPr>
        <p:spPr>
          <a:xfrm>
            <a:off x="2362200" y="3612023"/>
            <a:ext cx="220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Feature Kernel Extracted from ‘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block_16_expand_BN</a:t>
            </a:r>
            <a:r>
              <a:rPr lang="en-US" sz="1200" dirty="0"/>
              <a:t>’ </a:t>
            </a:r>
          </a:p>
        </p:txBody>
      </p:sp>
      <p:pic>
        <p:nvPicPr>
          <p:cNvPr id="20" name="Picture 19" descr="A close-up of a red and white image&#10;&#10;Description automatically generated">
            <a:extLst>
              <a:ext uri="{FF2B5EF4-FFF2-40B4-BE49-F238E27FC236}">
                <a16:creationId xmlns:a16="http://schemas.microsoft.com/office/drawing/2014/main" id="{68C9A12F-5D60-B4C9-DDC3-8421F6408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040" y="1237535"/>
            <a:ext cx="2209801" cy="2314531"/>
          </a:xfrm>
          <a:prstGeom prst="rect">
            <a:avLst/>
          </a:prstGeom>
        </p:spPr>
      </p:pic>
      <p:pic>
        <p:nvPicPr>
          <p:cNvPr id="22" name="Picture 21" descr="A close-up of hands holding strawberries&#10;&#10;Description automatically generated">
            <a:extLst>
              <a:ext uri="{FF2B5EF4-FFF2-40B4-BE49-F238E27FC236}">
                <a16:creationId xmlns:a16="http://schemas.microsoft.com/office/drawing/2014/main" id="{5BC74E98-B9B4-FEC7-EE8E-43E3F8D71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" y="1256585"/>
            <a:ext cx="2209800" cy="2282083"/>
          </a:xfrm>
          <a:prstGeom prst="rect">
            <a:avLst/>
          </a:prstGeom>
        </p:spPr>
      </p:pic>
      <p:pic>
        <p:nvPicPr>
          <p:cNvPr id="24" name="Picture 23" descr="A close-up of hands holding a strawberry&#10;&#10;Description automatically generated">
            <a:extLst>
              <a:ext uri="{FF2B5EF4-FFF2-40B4-BE49-F238E27FC236}">
                <a16:creationId xmlns:a16="http://schemas.microsoft.com/office/drawing/2014/main" id="{32DDA42B-DB83-0AC5-139A-D7A4E3069E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6741" y="1256585"/>
            <a:ext cx="2261323" cy="2314531"/>
          </a:xfrm>
          <a:prstGeom prst="rect">
            <a:avLst/>
          </a:prstGeom>
        </p:spPr>
      </p:pic>
      <p:pic>
        <p:nvPicPr>
          <p:cNvPr id="26" name="Picture 25" descr="A close-up of hands holding strawberries&#10;&#10;Description automatically generated">
            <a:extLst>
              <a:ext uri="{FF2B5EF4-FFF2-40B4-BE49-F238E27FC236}">
                <a16:creationId xmlns:a16="http://schemas.microsoft.com/office/drawing/2014/main" id="{CF2E19A3-0694-8242-300B-69B8347CE8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8064" y="1306838"/>
            <a:ext cx="2447836" cy="1901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96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CD347-67A5-F1BD-178F-CEDAA57B3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5ADDE-237B-E7E4-5A8D-E93A53040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9634"/>
            <a:ext cx="7886700" cy="44711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 defTabSz="914400" eaLnBrk="1" hangingPunct="1">
              <a:lnSpc>
                <a:spcPct val="90000"/>
              </a:lnSpc>
            </a:pPr>
            <a:r>
              <a:rPr lang="en-US" b="1" dirty="0">
                <a:solidFill>
                  <a:schemeClr val="tx2"/>
                </a:solidFill>
              </a:rPr>
              <a:t>Challenges to be addressed</a:t>
            </a:r>
            <a:endParaRPr lang="en-US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D43CC-5D51-5885-E779-9BD9167A8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Aft>
                <a:spcPts val="600"/>
              </a:spcAft>
              <a:defRPr/>
            </a:pPr>
            <a:fld id="{67ED70C6-FDCB-5747-9A21-CEFC4DDC4D7F}" type="slidenum">
              <a:rPr lang="en-US"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algn="r" defTabSz="914400">
                <a:lnSpc>
                  <a:spcPct val="90000"/>
                </a:lnSpc>
                <a:spcAft>
                  <a:spcPts val="600"/>
                </a:spcAft>
                <a:defRPr/>
              </a:pPr>
              <a:t>14</a:t>
            </a:fld>
            <a:endParaRPr lang="en-US" sz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9" name="Picture 8" descr="A banana on a white background&#10;&#10;Description automatically generated">
            <a:extLst>
              <a:ext uri="{FF2B5EF4-FFF2-40B4-BE49-F238E27FC236}">
                <a16:creationId xmlns:a16="http://schemas.microsoft.com/office/drawing/2014/main" id="{C75B5B75-3B3F-1C54-7938-97DA572F5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877" y="1242853"/>
            <a:ext cx="3352812" cy="2948305"/>
          </a:xfrm>
          <a:prstGeom prst="rect">
            <a:avLst/>
          </a:prstGeom>
        </p:spPr>
      </p:pic>
      <p:pic>
        <p:nvPicPr>
          <p:cNvPr id="13" name="Picture 12" descr="A banana with a green background&#10;&#10;Description automatically generated">
            <a:extLst>
              <a:ext uri="{FF2B5EF4-FFF2-40B4-BE49-F238E27FC236}">
                <a16:creationId xmlns:a16="http://schemas.microsoft.com/office/drawing/2014/main" id="{3CC3EDD8-17F7-2414-5693-681ACED81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403" y="1162050"/>
            <a:ext cx="3352812" cy="2819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E0FD63C-A33D-5C36-DF61-1E4AEA7A57DD}"/>
              </a:ext>
            </a:extLst>
          </p:cNvPr>
          <p:cNvSpPr txBox="1"/>
          <p:nvPr/>
        </p:nvSpPr>
        <p:spPr>
          <a:xfrm>
            <a:off x="5562600" y="3981349"/>
            <a:ext cx="220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Feature Kernel Extracted from ‘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block_13_expand_BN</a:t>
            </a:r>
            <a:r>
              <a:rPr lang="en-US" sz="1200" dirty="0"/>
              <a:t>’ </a:t>
            </a:r>
          </a:p>
        </p:txBody>
      </p:sp>
    </p:spTree>
    <p:extLst>
      <p:ext uri="{BB962C8B-B14F-4D97-AF65-F5344CB8AC3E}">
        <p14:creationId xmlns:p14="http://schemas.microsoft.com/office/powerpoint/2010/main" val="3202292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4F881-721F-AB8A-5650-CD0684FC4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91D8-B2FB-A1A1-0E7F-459A75CAF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088" y="574563"/>
            <a:ext cx="7886700" cy="44711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 defTabSz="914400" eaLnBrk="1" hangingPunct="1">
              <a:lnSpc>
                <a:spcPct val="90000"/>
              </a:lnSpc>
            </a:pPr>
            <a:r>
              <a:rPr lang="en-US" b="1" dirty="0">
                <a:solidFill>
                  <a:schemeClr val="tx2"/>
                </a:solidFill>
              </a:rPr>
              <a:t>Challenges to be addressed</a:t>
            </a:r>
            <a:endParaRPr lang="en-US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31EA5-52EC-2650-FDBC-48B9202CF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Aft>
                <a:spcPts val="600"/>
              </a:spcAft>
              <a:defRPr/>
            </a:pPr>
            <a:fld id="{67ED70C6-FDCB-5747-9A21-CEFC4DDC4D7F}" type="slidenum">
              <a:rPr lang="en-US"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algn="r" defTabSz="914400">
                <a:lnSpc>
                  <a:spcPct val="90000"/>
                </a:lnSpc>
                <a:spcAft>
                  <a:spcPts val="600"/>
                </a:spcAft>
                <a:defRPr/>
              </a:pPr>
              <a:t>15</a:t>
            </a:fld>
            <a:endParaRPr lang="en-US" sz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BFC4FC-DFF8-4338-94B6-854B933A0546}"/>
              </a:ext>
            </a:extLst>
          </p:cNvPr>
          <p:cNvSpPr txBox="1"/>
          <p:nvPr/>
        </p:nvSpPr>
        <p:spPr>
          <a:xfrm>
            <a:off x="794275" y="1657350"/>
            <a:ext cx="6781800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b="1" dirty="0">
                <a:solidFill>
                  <a:srgbClr val="9CDCFE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threshold</a:t>
            </a:r>
            <a:r>
              <a:rPr lang="en-US" b="1" dirty="0">
                <a:solidFill>
                  <a:srgbClr val="DADADA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B4B4B4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DADADA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min_val</a:t>
            </a:r>
            <a:r>
              <a:rPr lang="en-US" b="1" dirty="0">
                <a:solidFill>
                  <a:srgbClr val="DADADA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B4B4B4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+</a:t>
            </a:r>
            <a:r>
              <a:rPr lang="en-US" b="1" dirty="0">
                <a:solidFill>
                  <a:srgbClr val="DADADA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B4B4B4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max_val</a:t>
            </a:r>
            <a:r>
              <a:rPr lang="en-US" b="1" dirty="0">
                <a:solidFill>
                  <a:srgbClr val="DADADA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B4B4B4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-</a:t>
            </a:r>
            <a:r>
              <a:rPr lang="en-US" b="1" dirty="0">
                <a:solidFill>
                  <a:srgbClr val="DADADA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min_val</a:t>
            </a:r>
            <a:r>
              <a:rPr lang="en-US" b="1" dirty="0">
                <a:solidFill>
                  <a:srgbClr val="B4B4B4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)</a:t>
            </a:r>
            <a:r>
              <a:rPr lang="en-US" b="1" dirty="0">
                <a:solidFill>
                  <a:srgbClr val="DADADA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B4B4B4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*</a:t>
            </a:r>
            <a:r>
              <a:rPr lang="en-US" b="1" dirty="0">
                <a:solidFill>
                  <a:srgbClr val="DADADA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B5CEA8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0.091</a:t>
            </a:r>
            <a:r>
              <a:rPr lang="en-US" b="1" dirty="0">
                <a:solidFill>
                  <a:srgbClr val="DADADA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E4FE63-649F-D5A5-7915-D3589CF5F08D}"/>
              </a:ext>
            </a:extLst>
          </p:cNvPr>
          <p:cNvSpPr txBox="1"/>
          <p:nvPr/>
        </p:nvSpPr>
        <p:spPr>
          <a:xfrm>
            <a:off x="781050" y="2094696"/>
            <a:ext cx="6705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The threshold becomes a new important parameter in segmenting an image and choosing the value of the threshold is critical. </a:t>
            </a:r>
            <a:br>
              <a:rPr lang="en-US" sz="1400" b="1" dirty="0"/>
            </a:br>
            <a:br>
              <a:rPr lang="en-US" sz="1400" b="1" dirty="0"/>
            </a:br>
            <a:r>
              <a:rPr lang="en-US" sz="1400" b="1" dirty="0"/>
              <a:t>The demo is shown in real code.</a:t>
            </a:r>
          </a:p>
        </p:txBody>
      </p:sp>
    </p:spTree>
    <p:extLst>
      <p:ext uri="{BB962C8B-B14F-4D97-AF65-F5344CB8AC3E}">
        <p14:creationId xmlns:p14="http://schemas.microsoft.com/office/powerpoint/2010/main" val="801711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B2A25-A208-FA99-2D75-CC6D3EF62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69DBE-B830-0939-30C5-69D47B0BF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785" y="341274"/>
            <a:ext cx="8229600" cy="742950"/>
          </a:xfrm>
        </p:spPr>
        <p:txBody>
          <a:bodyPr/>
          <a:lstStyle/>
          <a:p>
            <a:pPr algn="l"/>
            <a:r>
              <a:rPr lang="en-US" sz="2400" b="1" dirty="0"/>
              <a:t>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55F35-F31D-C5F9-30E7-93F32B2C9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785" y="1058088"/>
            <a:ext cx="8229600" cy="1028700"/>
          </a:xfrm>
        </p:spPr>
        <p:txBody>
          <a:bodyPr/>
          <a:lstStyle/>
          <a:p>
            <a:r>
              <a:rPr lang="en-US" dirty="0"/>
              <a:t>Enhance model accuracy with a larger diverse dataset </a:t>
            </a:r>
          </a:p>
          <a:p>
            <a:r>
              <a:rPr lang="en-US" dirty="0"/>
              <a:t>Optimize feature detection parameters </a:t>
            </a:r>
          </a:p>
          <a:p>
            <a:r>
              <a:rPr lang="en-US" dirty="0"/>
              <a:t>Implement real-time processing capabilities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BD6153-1C14-2A68-6609-7E208B37C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ED70C6-FDCB-5747-9A21-CEFC4DDC4D7F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A9FB193-0D93-45D0-7CB8-BC27E0E0EAD8}"/>
              </a:ext>
            </a:extLst>
          </p:cNvPr>
          <p:cNvSpPr txBox="1">
            <a:spLocks/>
          </p:cNvSpPr>
          <p:nvPr/>
        </p:nvSpPr>
        <p:spPr bwMode="auto">
          <a:xfrm>
            <a:off x="337457" y="2166937"/>
            <a:ext cx="822960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6096"/>
                </a:solidFill>
                <a:latin typeface="Calibri"/>
                <a:ea typeface="Geneva" pitchFamily="-65" charset="-128"/>
                <a:cs typeface="Calibri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Helvetica Neue" pitchFamily="-65" charset="0"/>
                <a:ea typeface="Geneva" pitchFamily="-65" charset="-128"/>
                <a:cs typeface="Geneva" pitchFamily="-65" charset="-128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Helvetica Neue" pitchFamily="-65" charset="0"/>
                <a:ea typeface="Geneva" pitchFamily="-65" charset="-128"/>
                <a:cs typeface="Geneva" pitchFamily="-65" charset="-128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Helvetica Neue" pitchFamily="-65" charset="0"/>
                <a:ea typeface="Geneva" pitchFamily="-65" charset="-128"/>
                <a:cs typeface="Geneva" pitchFamily="-65" charset="-128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Helvetica Neue" pitchFamily="-65" charset="0"/>
                <a:ea typeface="Geneva" pitchFamily="-65" charset="-128"/>
                <a:cs typeface="Geneva" pitchFamily="-65" charset="-128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Helvetica Neue" pitchFamily="-65" charset="0"/>
                <a:ea typeface="Geneva" pitchFamily="-65" charset="-128"/>
                <a:cs typeface="Geneva" pitchFamily="-65" charset="-128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Helvetica Neue" pitchFamily="-65" charset="0"/>
                <a:ea typeface="Geneva" pitchFamily="-65" charset="-128"/>
                <a:cs typeface="Geneva" pitchFamily="-65" charset="-128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Helvetica Neue" pitchFamily="-65" charset="0"/>
                <a:ea typeface="Geneva" pitchFamily="-65" charset="-128"/>
                <a:cs typeface="Geneva" pitchFamily="-65" charset="-128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Helvetica Neue" pitchFamily="-65" charset="0"/>
                <a:ea typeface="Geneva" pitchFamily="-65" charset="-128"/>
                <a:cs typeface="Geneva" pitchFamily="-65" charset="-128"/>
              </a:defRPr>
            </a:lvl9pPr>
          </a:lstStyle>
          <a:p>
            <a:pPr algn="l"/>
            <a:r>
              <a:rPr lang="en-US" sz="2200" b="1" dirty="0">
                <a:solidFill>
                  <a:schemeClr val="tx1"/>
                </a:solidFill>
                <a:latin typeface="+mj-lt"/>
              </a:rPr>
              <a:t>Potential Implementation after complete development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4B65547-5473-BE62-766F-96FAA1B8FD93}"/>
              </a:ext>
            </a:extLst>
          </p:cNvPr>
          <p:cNvSpPr txBox="1">
            <a:spLocks/>
          </p:cNvSpPr>
          <p:nvPr/>
        </p:nvSpPr>
        <p:spPr bwMode="auto">
          <a:xfrm>
            <a:off x="475785" y="2816265"/>
            <a:ext cx="8229600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rgbClr val="006096"/>
                </a:solidFill>
                <a:latin typeface="Calibri"/>
                <a:ea typeface="Geneva" pitchFamily="-65" charset="-128"/>
                <a:cs typeface="Calibri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kern="1200">
                <a:solidFill>
                  <a:srgbClr val="006096"/>
                </a:solidFill>
                <a:latin typeface="Calibri"/>
                <a:ea typeface="Geneva" pitchFamily="-65" charset="-128"/>
                <a:cs typeface="Calibri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rgbClr val="006096"/>
                </a:solidFill>
                <a:latin typeface="Calibri"/>
                <a:ea typeface="ヒラギノ角ゴ Pro W3" charset="-128"/>
                <a:cs typeface="Calibri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kern="1200">
                <a:solidFill>
                  <a:srgbClr val="006096"/>
                </a:solidFill>
                <a:latin typeface="Calibri"/>
                <a:ea typeface="ヒラギノ角ゴ Pro W3" charset="-128"/>
                <a:cs typeface="Calibri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ern="1200">
                <a:solidFill>
                  <a:srgbClr val="006096"/>
                </a:solidFill>
                <a:latin typeface="Calibri"/>
                <a:ea typeface="ヒラギノ角ゴ Pro W3" charset="-128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/>
                </a:solidFill>
                <a:latin typeface="+mn-lt"/>
              </a:rPr>
              <a:t>Extracting Template from the trained dataset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/>
                </a:solidFill>
                <a:latin typeface="+mn-lt"/>
              </a:rPr>
              <a:t>Image Segmentation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/>
                </a:solidFill>
                <a:latin typeface="+mn-lt"/>
              </a:rPr>
              <a:t>Annotation Generation</a:t>
            </a:r>
          </a:p>
        </p:txBody>
      </p:sp>
    </p:spTree>
    <p:extLst>
      <p:ext uri="{BB962C8B-B14F-4D97-AF65-F5344CB8AC3E}">
        <p14:creationId xmlns:p14="http://schemas.microsoft.com/office/powerpoint/2010/main" val="3765829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D36D7-11D8-17B2-524A-09BDDF89B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76350"/>
            <a:ext cx="8229600" cy="742950"/>
          </a:xfrm>
        </p:spPr>
        <p:txBody>
          <a:bodyPr/>
          <a:lstStyle/>
          <a:p>
            <a:r>
              <a:rPr lang="en-US" sz="11500" b="1" dirty="0"/>
              <a:t>Thank</a:t>
            </a:r>
            <a:r>
              <a:rPr lang="en-US" sz="13800" b="1" dirty="0"/>
              <a:t>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CC1A9E-332F-B225-46AB-3BF6C6E6A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8F1A38-2662-714D-BA55-F0640804B748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3633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1057</TotalTime>
  <Words>572</Words>
  <Application>Microsoft Office PowerPoint</Application>
  <PresentationFormat>On-screen Show (16:9)</PresentationFormat>
  <Paragraphs>98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Century Gothic</vt:lpstr>
      <vt:lpstr>Consolas</vt:lpstr>
      <vt:lpstr>Fira Code</vt:lpstr>
      <vt:lpstr>Wingdings</vt:lpstr>
      <vt:lpstr>Wingdings 3</vt:lpstr>
      <vt:lpstr>Ion</vt:lpstr>
      <vt:lpstr>PowerPoint Presentation</vt:lpstr>
      <vt:lpstr>Problem Statement </vt:lpstr>
      <vt:lpstr>Solution Analysis</vt:lpstr>
      <vt:lpstr>System Architecture</vt:lpstr>
      <vt:lpstr>Key Components</vt:lpstr>
      <vt:lpstr>Key Components</vt:lpstr>
      <vt:lpstr>Key Components</vt:lpstr>
      <vt:lpstr>Experimental Results</vt:lpstr>
      <vt:lpstr>PowerPoint Presentation</vt:lpstr>
      <vt:lpstr>Conclusions</vt:lpstr>
      <vt:lpstr>PowerPoint Presentation</vt:lpstr>
      <vt:lpstr>PowerPoint Presentation</vt:lpstr>
      <vt:lpstr>PowerPoint Presentation</vt:lpstr>
      <vt:lpstr>Challenges to be addressed</vt:lpstr>
      <vt:lpstr>Challenges to be addressed</vt:lpstr>
      <vt:lpstr>Challenges to be addressed</vt:lpstr>
      <vt:lpstr>Future Improvements</vt:lpstr>
      <vt:lpstr>Thank you</vt:lpstr>
    </vt:vector>
  </TitlesOfParts>
  <Company>University of Delaware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Gail Armstrong</dc:creator>
  <cp:lastModifiedBy>Aparna Pabbu</cp:lastModifiedBy>
  <cp:revision>69</cp:revision>
  <dcterms:created xsi:type="dcterms:W3CDTF">2014-12-16T17:00:44Z</dcterms:created>
  <dcterms:modified xsi:type="dcterms:W3CDTF">2025-01-17T04:13:43Z</dcterms:modified>
</cp:coreProperties>
</file>